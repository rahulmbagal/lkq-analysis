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2" r:id="rId4"/>
    <p:sldId id="258" r:id="rId5"/>
    <p:sldId id="259" r:id="rId6"/>
    <p:sldId id="275" r:id="rId7"/>
    <p:sldId id="277" r:id="rId8"/>
    <p:sldId id="278" r:id="rId9"/>
    <p:sldId id="285" r:id="rId10"/>
    <p:sldId id="272" r:id="rId11"/>
    <p:sldId id="279" r:id="rId12"/>
    <p:sldId id="262" r:id="rId13"/>
    <p:sldId id="263" r:id="rId14"/>
    <p:sldId id="264" r:id="rId15"/>
    <p:sldId id="265" r:id="rId16"/>
    <p:sldId id="266" r:id="rId17"/>
    <p:sldId id="267" r:id="rId18"/>
    <p:sldId id="274" r:id="rId19"/>
    <p:sldId id="2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Sales</c:v>
          </c:tx>
          <c:spPr>
            <a:ln w="28575">
              <a:solidFill>
                <a:srgbClr val="17324D"/>
              </a:solidFill>
            </a:ln>
          </c:spPr>
          <c:marker>
            <c:symbol val="circle"/>
            <c:size val="5"/>
            <c:spPr>
              <a:solidFill>
                <a:srgbClr val="17324D"/>
              </a:solidFill>
            </c:spPr>
          </c:marker>
          <c:cat>
            <c:strLit>
              <c:ptCount val="36"/>
              <c:pt idx="0">
                <c:v>Jan 2020</c:v>
              </c:pt>
              <c:pt idx="1">
                <c:v>Feb 2020</c:v>
              </c:pt>
              <c:pt idx="2">
                <c:v>Mar 2020</c:v>
              </c:pt>
              <c:pt idx="3">
                <c:v>Apr 2020</c:v>
              </c:pt>
              <c:pt idx="4">
                <c:v>May 2020</c:v>
              </c:pt>
              <c:pt idx="5">
                <c:v>Jun 2020</c:v>
              </c:pt>
              <c:pt idx="6">
                <c:v>Jul 2020</c:v>
              </c:pt>
              <c:pt idx="7">
                <c:v>Aug 2020</c:v>
              </c:pt>
              <c:pt idx="8">
                <c:v>Sep 2020</c:v>
              </c:pt>
              <c:pt idx="9">
                <c:v>Oct 2020</c:v>
              </c:pt>
              <c:pt idx="10">
                <c:v>Nov 2020</c:v>
              </c:pt>
              <c:pt idx="11">
                <c:v>Dec 2020</c:v>
              </c:pt>
              <c:pt idx="12">
                <c:v>Jan 2021</c:v>
              </c:pt>
              <c:pt idx="13">
                <c:v>Feb 2021</c:v>
              </c:pt>
              <c:pt idx="14">
                <c:v>Mar 2021</c:v>
              </c:pt>
              <c:pt idx="15">
                <c:v>Apr 2021</c:v>
              </c:pt>
              <c:pt idx="16">
                <c:v>May 2021</c:v>
              </c:pt>
              <c:pt idx="17">
                <c:v>Jun 2021</c:v>
              </c:pt>
              <c:pt idx="18">
                <c:v>Jul 2021</c:v>
              </c:pt>
              <c:pt idx="19">
                <c:v>Aug 2021</c:v>
              </c:pt>
              <c:pt idx="20">
                <c:v>Sep 2021</c:v>
              </c:pt>
              <c:pt idx="21">
                <c:v>Oct 2021</c:v>
              </c:pt>
              <c:pt idx="22">
                <c:v>Nov 2021</c:v>
              </c:pt>
              <c:pt idx="23">
                <c:v>Dec 2021</c:v>
              </c:pt>
              <c:pt idx="24">
                <c:v>Jan 2022</c:v>
              </c:pt>
              <c:pt idx="25">
                <c:v>Feb 2022</c:v>
              </c:pt>
              <c:pt idx="26">
                <c:v>Mar 2022</c:v>
              </c:pt>
              <c:pt idx="27">
                <c:v>Apr 2022</c:v>
              </c:pt>
              <c:pt idx="28">
                <c:v>May 2022</c:v>
              </c:pt>
              <c:pt idx="29">
                <c:v>Jun 2022</c:v>
              </c:pt>
              <c:pt idx="30">
                <c:v>Jul 2022</c:v>
              </c:pt>
              <c:pt idx="31">
                <c:v>Aug 2022</c:v>
              </c:pt>
              <c:pt idx="32">
                <c:v>Sep 2022</c:v>
              </c:pt>
              <c:pt idx="33">
                <c:v>Oct 2022</c:v>
              </c:pt>
              <c:pt idx="34">
                <c:v>Nov 2022</c:v>
              </c:pt>
              <c:pt idx="35">
                <c:v>Dec 2022</c:v>
              </c:pt>
            </c:strLit>
          </c:cat>
          <c:val>
            <c:numLit>
              <c:formatCode>0</c:formatCode>
              <c:ptCount val="36"/>
              <c:pt idx="0">
                <c:v>397.8</c:v>
              </c:pt>
              <c:pt idx="1">
                <c:v>187.20000000000002</c:v>
              </c:pt>
              <c:pt idx="2">
                <c:v>167.4</c:v>
              </c:pt>
              <c:pt idx="3">
                <c:v>333</c:v>
              </c:pt>
              <c:pt idx="4">
                <c:v>232.20000000000002</c:v>
              </c:pt>
              <c:pt idx="5">
                <c:v>129.6</c:v>
              </c:pt>
              <c:pt idx="6">
                <c:v>212.4</c:v>
              </c:pt>
              <c:pt idx="7">
                <c:v>237.6</c:v>
              </c:pt>
              <c:pt idx="8">
                <c:v>86.399999999999991</c:v>
              </c:pt>
              <c:pt idx="9">
                <c:v>190.79999999999998</c:v>
              </c:pt>
              <c:pt idx="10">
                <c:v>154.79999999999998</c:v>
              </c:pt>
              <c:pt idx="11">
                <c:v>313.2</c:v>
              </c:pt>
              <c:pt idx="12">
                <c:v>165.6</c:v>
              </c:pt>
              <c:pt idx="13">
                <c:v>174.6</c:v>
              </c:pt>
              <c:pt idx="14">
                <c:v>342</c:v>
              </c:pt>
              <c:pt idx="15">
                <c:v>403.2</c:v>
              </c:pt>
              <c:pt idx="16">
                <c:v>225</c:v>
              </c:pt>
              <c:pt idx="17">
                <c:v>439.2</c:v>
              </c:pt>
              <c:pt idx="18">
                <c:v>203.4</c:v>
              </c:pt>
              <c:pt idx="19">
                <c:v>262.8</c:v>
              </c:pt>
              <c:pt idx="20">
                <c:v>324</c:v>
              </c:pt>
              <c:pt idx="21">
                <c:v>225</c:v>
              </c:pt>
              <c:pt idx="22">
                <c:v>100.8</c:v>
              </c:pt>
              <c:pt idx="23">
                <c:v>279</c:v>
              </c:pt>
              <c:pt idx="24">
                <c:v>174.6</c:v>
              </c:pt>
              <c:pt idx="25">
                <c:v>216</c:v>
              </c:pt>
              <c:pt idx="26">
                <c:v>270</c:v>
              </c:pt>
              <c:pt idx="27">
                <c:v>286.2</c:v>
              </c:pt>
              <c:pt idx="28">
                <c:v>340.2</c:v>
              </c:pt>
              <c:pt idx="29">
                <c:v>189</c:v>
              </c:pt>
              <c:pt idx="30">
                <c:v>385.2</c:v>
              </c:pt>
              <c:pt idx="31">
                <c:v>214.20000000000002</c:v>
              </c:pt>
              <c:pt idx="32">
                <c:v>172.79999999999998</c:v>
              </c:pt>
              <c:pt idx="33">
                <c:v>313.2</c:v>
              </c:pt>
              <c:pt idx="34">
                <c:v>171</c:v>
              </c:pt>
              <c:pt idx="35">
                <c:v>230.4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4EE-4F5A-8EC5-F6627A1232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>
                    <a:latin typeface="Aptos"/>
                    <a:ea typeface="Aptos"/>
                    <a:cs typeface="Aptos"/>
                  </a:rPr>
                  <a:t>Sales ($M)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Standardized coefficient</c:v>
          </c:tx>
          <c:spPr>
            <a:solidFill>
              <a:srgbClr val="147D92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D2-455D-B441-67DA63510317}"/>
              </c:ext>
            </c:extLst>
          </c:dPt>
          <c:dPt>
            <c:idx val="1"/>
            <c:invertIfNegative val="0"/>
            <c:bubble3D val="0"/>
            <c:spPr>
              <a:solidFill>
                <a:srgbClr val="C8792C"/>
              </a:solidFill>
            </c:spPr>
            <c:extLst>
              <c:ext xmlns:c16="http://schemas.microsoft.com/office/drawing/2014/chart" uri="{C3380CC4-5D6E-409C-BE32-E72D297353CC}">
                <c16:uniqueId val="{00000003-72D2-455D-B441-67DA63510317}"/>
              </c:ext>
            </c:extLst>
          </c:dPt>
          <c:dPt>
            <c:idx val="2"/>
            <c:invertIfNegative val="0"/>
            <c:bubble3D val="0"/>
            <c:spPr>
              <a:solidFill>
                <a:srgbClr val="7A5195"/>
              </a:solidFill>
            </c:spPr>
            <c:extLst>
              <c:ext xmlns:c16="http://schemas.microsoft.com/office/drawing/2014/chart" uri="{C3380CC4-5D6E-409C-BE32-E72D297353CC}">
                <c16:uniqueId val="{00000005-72D2-455D-B441-67DA635103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17324D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Digital</c:v>
              </c:pt>
              <c:pt idx="1">
                <c:v>Radio</c:v>
              </c:pt>
              <c:pt idx="2">
                <c:v>TV</c:v>
              </c:pt>
            </c:strLit>
          </c:cat>
          <c:val>
            <c:numLit>
              <c:formatCode>0.000</c:formatCode>
              <c:ptCount val="3"/>
              <c:pt idx="0">
                <c:v>0.813323986</c:v>
              </c:pt>
              <c:pt idx="1">
                <c:v>0.54614094999999996</c:v>
              </c:pt>
              <c:pt idx="2">
                <c:v>-7.0376282600000006E-2</c:v>
              </c:pt>
            </c:numLit>
          </c:val>
          <c:extLst>
            <c:ext xmlns:c16="http://schemas.microsoft.com/office/drawing/2014/chart" uri="{C3380CC4-5D6E-409C-BE32-E72D297353CC}">
              <c16:uniqueId val="{00000006-72D2-455D-B441-67DA6351031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-0.15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Partial R²</c:v>
          </c:tx>
          <c:spPr>
            <a:solidFill>
              <a:srgbClr val="147D92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31-4C77-9977-5188092D3B19}"/>
              </c:ext>
            </c:extLst>
          </c:dPt>
          <c:dPt>
            <c:idx val="1"/>
            <c:invertIfNegative val="0"/>
            <c:bubble3D val="0"/>
            <c:spPr>
              <a:solidFill>
                <a:srgbClr val="C8792C"/>
              </a:solidFill>
            </c:spPr>
            <c:extLst>
              <c:ext xmlns:c16="http://schemas.microsoft.com/office/drawing/2014/chart" uri="{C3380CC4-5D6E-409C-BE32-E72D297353CC}">
                <c16:uniqueId val="{00000003-8D31-4C77-9977-5188092D3B19}"/>
              </c:ext>
            </c:extLst>
          </c:dPt>
          <c:dPt>
            <c:idx val="2"/>
            <c:invertIfNegative val="0"/>
            <c:bubble3D val="0"/>
            <c:spPr>
              <a:solidFill>
                <a:srgbClr val="7A5195"/>
              </a:solidFill>
            </c:spPr>
            <c:extLst>
              <c:ext xmlns:c16="http://schemas.microsoft.com/office/drawing/2014/chart" uri="{C3380CC4-5D6E-409C-BE32-E72D297353CC}">
                <c16:uniqueId val="{00000005-8D31-4C77-9977-5188092D3B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17324D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Digital</c:v>
              </c:pt>
              <c:pt idx="1">
                <c:v>Radio</c:v>
              </c:pt>
              <c:pt idx="2">
                <c:v>TV</c:v>
              </c:pt>
            </c:strLit>
          </c:cat>
          <c:val>
            <c:numLit>
              <c:formatCode>0.000</c:formatCode>
              <c:ptCount val="3"/>
              <c:pt idx="0">
                <c:v>0.81332672780000004</c:v>
              </c:pt>
              <c:pt idx="1">
                <c:v>0.49779840559999999</c:v>
              </c:pt>
              <c:pt idx="2">
                <c:v>2.0528250800000002E-2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8D31-4C77-9977-5188092D3B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Mean sales</c:v>
          </c:tx>
          <c:spPr>
            <a:solidFill>
              <a:srgbClr val="98A5A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D9534F"/>
              </a:solidFill>
            </c:spPr>
            <c:extLst>
              <c:ext xmlns:c16="http://schemas.microsoft.com/office/drawing/2014/chart" uri="{C3380CC4-5D6E-409C-BE32-E72D297353CC}">
                <c16:uniqueId val="{00000001-7DD6-446C-9945-159DB3C8E175}"/>
              </c:ext>
            </c:extLst>
          </c:dPt>
          <c:dPt>
            <c:idx val="1"/>
            <c:invertIfNegative val="0"/>
            <c:bubble3D val="0"/>
            <c:spPr>
              <a:solidFill>
                <a:srgbClr val="C8792C"/>
              </a:solidFill>
            </c:spPr>
            <c:extLst>
              <c:ext xmlns:c16="http://schemas.microsoft.com/office/drawing/2014/chart" uri="{C3380CC4-5D6E-409C-BE32-E72D297353CC}">
                <c16:uniqueId val="{00000003-7DD6-446C-9945-159DB3C8E17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DD6-446C-9945-159DB3C8E17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17324D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Lockdown (3 months)</c:v>
              </c:pt>
              <c:pt idx="1">
                <c:v>Relaxation (3 months)</c:v>
              </c:pt>
              <c:pt idx="2">
                <c:v>Other (30 months)</c:v>
              </c:pt>
            </c:strLit>
          </c:cat>
          <c:val>
            <c:numLit>
              <c:formatCode>0.00</c:formatCode>
              <c:ptCount val="3"/>
              <c:pt idx="0">
                <c:v>231.6</c:v>
              </c:pt>
              <c:pt idx="1">
                <c:v>178.79999999999998</c:v>
              </c:pt>
              <c:pt idx="2">
                <c:v>250.62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7DD6-446C-9945-159DB3C8E1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>
                    <a:latin typeface="Aptos"/>
                    <a:ea typeface="Aptos"/>
                    <a:cs typeface="Aptos"/>
                  </a:rPr>
                  <a:t>Average monthly sales ($M)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Final_Analysis(3).ipynb. Q1 and Section 6.3. Approximate HAC Wald/F-type test F(3,29)=73.281, p=1.210422e-13. Individual p-values use Holm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Final_Analysis(3).ipynb. Q2. Standardized coefficient measures signed association on comparable scales. Partial R-squared measures each channel’s reduction in residual variation relative to the model without it. These are not additive revenue shares.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B27777-4530-434C-98E9-D377042176D7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ABC Retail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B39674-ADED-4D72-8668-78DD4FB973FD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Marketing and sales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3AE264-F64E-4E97-9EEA-E96CCEE0D233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10096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C6DCE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C6DCE4"/>
                </a:solidFill>
                <a:latin typeface="Aptos"/>
                <a:ea typeface="Aptos"/>
                <a:cs typeface="Aptos"/>
              </a:rPr>
              <a:t>January 2020 to December 2022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1FA721-B806-461C-81DB-8587F5A693F1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590550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sz="25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Rahul Mahipati Bagal</a:t>
            </a:r>
          </a:p>
          <a:p>
            <a:pPr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IN" sz="25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Scientist</a:t>
            </a:r>
            <a:endParaRPr sz="25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28700" r="28700"/>
          <a:stretch>
            <a:fillRect/>
          </a:stretch>
        </p:blipFill>
        <p:spPr>
          <a:xfrm>
            <a:off x="7000875" y="0"/>
            <a:ext cx="5191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3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5B5A99C-42FD-4AA7-AE8A-F8A3D9A4791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four business questions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2F4F20-EC94-4E21-BC85-A3263F61822E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The analysis answers each question with evidence and a conclusion.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35B99-6BE8-408D-B34B-088977197715}"/>
              </a:ext>
            </a:extLst>
          </p:cNvPr>
          <p:cNvSpPr>
            <a:spLocks noGrp="1"/>
          </p:cNvSpPr>
          <p:nvPr/>
        </p:nvSpPr>
        <p:spPr>
          <a:xfrm>
            <a:off x="11191875" y="646747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58A25C-64CC-4939-97AD-5B34A089ABE4}"/>
              </a:ext>
            </a:extLst>
          </p:cNvPr>
          <p:cNvSpPr>
            <a:spLocks noGrp="1"/>
          </p:cNvSpPr>
          <p:nvPr/>
        </p:nvSpPr>
        <p:spPr>
          <a:xfrm>
            <a:off x="619125" y="2133600"/>
            <a:ext cx="714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E1529-5200-4A1C-B3D1-F95567174C4E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8583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Are all media channels effective in driving sales?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63305-ACED-4F92-8F5F-CF097DEDA8DC}"/>
              </a:ext>
            </a:extLst>
          </p:cNvPr>
          <p:cNvSpPr>
            <a:spLocks noGrp="1"/>
          </p:cNvSpPr>
          <p:nvPr/>
        </p:nvSpPr>
        <p:spPr>
          <a:xfrm>
            <a:off x="619125" y="2905125"/>
            <a:ext cx="714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0F6040-AE3D-4622-AC64-283B1B65232B}"/>
              </a:ext>
            </a:extLst>
          </p:cNvPr>
          <p:cNvSpPr>
            <a:spLocks noGrp="1"/>
          </p:cNvSpPr>
          <p:nvPr/>
        </p:nvSpPr>
        <p:spPr>
          <a:xfrm>
            <a:off x="1476375" y="2905125"/>
            <a:ext cx="98583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Which is the most important channel?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C44626-10B3-4BCC-A3F4-23D083C5966A}"/>
              </a:ext>
            </a:extLst>
          </p:cNvPr>
          <p:cNvSpPr>
            <a:spLocks noGrp="1"/>
          </p:cNvSpPr>
          <p:nvPr/>
        </p:nvSpPr>
        <p:spPr>
          <a:xfrm>
            <a:off x="619125" y="3676650"/>
            <a:ext cx="714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C34056-60AD-4497-8F4A-0C6F615DE97E}"/>
              </a:ext>
            </a:extLst>
          </p:cNvPr>
          <p:cNvSpPr>
            <a:spLocks noGrp="1"/>
          </p:cNvSpPr>
          <p:nvPr/>
        </p:nvSpPr>
        <p:spPr>
          <a:xfrm>
            <a:off x="1476375" y="3676650"/>
            <a:ext cx="98583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 macroeconomic factors influence sales?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F957B3-3A5C-4DF4-A7D9-FEAF02CE264B}"/>
              </a:ext>
            </a:extLst>
          </p:cNvPr>
          <p:cNvSpPr>
            <a:spLocks noGrp="1"/>
          </p:cNvSpPr>
          <p:nvPr/>
        </p:nvSpPr>
        <p:spPr>
          <a:xfrm>
            <a:off x="619125" y="4448175"/>
            <a:ext cx="714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0CA1AD-9B7D-4042-BE07-88E66FF6647A}"/>
              </a:ext>
            </a:extLst>
          </p:cNvPr>
          <p:cNvSpPr>
            <a:spLocks noGrp="1"/>
          </p:cNvSpPr>
          <p:nvPr/>
        </p:nvSpPr>
        <p:spPr>
          <a:xfrm>
            <a:off x="1476375" y="4500366"/>
            <a:ext cx="98583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Did COVID affect sales, and why?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D436B7-E042-5EAC-BFCB-952A0A06A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819" y="1561363"/>
            <a:ext cx="2746931" cy="29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7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0A0D4EF-EF03-462B-8795-EB8A11A3070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structure and analysis fields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67FF5B-EF13-4C40-A156-87B4CEFF3674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109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lang="en-IN" sz="1875" b="0" dirty="0">
                <a:solidFill>
                  <a:srgbClr val="526371"/>
                </a:solidFill>
                <a:latin typeface="Aptos"/>
                <a:ea typeface="Aptos"/>
                <a:cs typeface="Aptos"/>
              </a:rPr>
              <a:t>File/Data Source: Excel </a:t>
            </a:r>
          </a:p>
          <a:p>
            <a:pPr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526371"/>
                </a:solidFill>
                <a:latin typeface="Aptos"/>
                <a:ea typeface="Aptos"/>
                <a:cs typeface="Aptos"/>
              </a:rPr>
              <a:t>The analysis combines monthly retail performance with quarterly macroeconomic data.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09600" y="2000250"/>
          <a:ext cx="10972800" cy="3702232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 area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Columns / rows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Role in analysis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Monthly retail file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36 rows; Jan 2020–Dec 2022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Main analysis timeline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sales_m: Sales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Outcome to explain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Media spend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digital_m, radio_m ($M); tv_m ($M)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Primary marketing predictors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Macroeconomy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gdp_pp: quarterly GDP change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Separate Q3 model extension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Time controls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trend, sin12, cos12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Gradual growth and annual seasonality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COVID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covid_lockdown; covid_relaxation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Separate Q4 period comparisons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2816EDC-3535-4753-9985-446C2725258D}"/>
              </a:ext>
            </a:extLst>
          </p:cNvPr>
          <p:cNvSpPr>
            <a:spLocks noGrp="1"/>
          </p:cNvSpPr>
          <p:nvPr/>
        </p:nvSpPr>
        <p:spPr>
          <a:xfrm>
            <a:off x="609600" y="5835832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47D92"/>
                </a:solidFill>
                <a:latin typeface="Aptos"/>
                <a:ea typeface="Aptos"/>
                <a:cs typeface="Aptos"/>
              </a:rPr>
              <a:t>Unit note: TV starts in thousands of dollars and is converted to millions before modelling.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8C623C-A312-45AF-ABE9-184ECD815051}"/>
              </a:ext>
            </a:extLst>
          </p:cNvPr>
          <p:cNvSpPr>
            <a:spLocks noGrp="1"/>
          </p:cNvSpPr>
          <p:nvPr/>
        </p:nvSpPr>
        <p:spPr>
          <a:xfrm>
            <a:off x="11191875" y="646747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2050" name="Picture 2" descr="YAY! DATA - Happy Minion Meme Generator">
            <a:extLst>
              <a:ext uri="{FF2B5EF4-FFF2-40B4-BE49-F238E27FC236}">
                <a16:creationId xmlns:a16="http://schemas.microsoft.com/office/drawing/2014/main" id="{F438167D-715E-624A-5AA8-AF69FE5CA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651" y="719334"/>
            <a:ext cx="1819699" cy="121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258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F1EA68-C31B-4195-BEAD-786EF5B2060E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36 months of data, with consistent spend units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67C5A2-6E1E-46B5-A8E7-679E83F8414B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No missing values or duplicate months in the analysis data.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0847CD-9F98-4AF1-A366-DD4F8FFA068A}"/>
              </a:ext>
            </a:extLst>
          </p:cNvPr>
          <p:cNvSpPr>
            <a:spLocks noGrp="1"/>
          </p:cNvSpPr>
          <p:nvPr/>
        </p:nvSpPr>
        <p:spPr>
          <a:xfrm>
            <a:off x="11191875" y="646747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609600" y="2028825"/>
          <a:ext cx="10972800" cy="26670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 unit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 treatment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Sales, Digital, Radio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$ million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Retain original units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$ thousand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Divide by 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US GDP growth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Quarterly change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Map to months, use percentage points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63B3AE0-88EB-472C-AFD3-99A9EBCC4FB8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The dataset contains 12 quarters of GDP information.</a:t>
            </a:r>
          </a:p>
        </p:txBody>
      </p:sp>
    </p:spTree>
    <p:extLst>
      <p:ext uri="{BB962C8B-B14F-4D97-AF65-F5344CB8AC3E}">
        <p14:creationId xmlns:p14="http://schemas.microsoft.com/office/powerpoint/2010/main" val="881737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434F25-E30E-4309-B540-7083FDB7054A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Monthly sales vary substantially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AF6116-1D47-4C45-B131-00D18FDBB655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Monthly observations across 12 quarters. Sales are in $ million.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F8A9B3-879A-4ED5-A44F-98BF6C32FC01}"/>
              </a:ext>
            </a:extLst>
          </p:cNvPr>
          <p:cNvSpPr>
            <a:spLocks noGrp="1"/>
          </p:cNvSpPr>
          <p:nvPr/>
        </p:nvSpPr>
        <p:spPr>
          <a:xfrm>
            <a:off x="11191875" y="646747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="619125" y="1990725"/>
          <a:ext cx="109537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E91D838-0706-4B8F-B32C-5B8ED60984EC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Observed sales range from $86.4M to $439.2M. Raw movements alone do not explain why.</a:t>
            </a:r>
          </a:p>
        </p:txBody>
      </p:sp>
    </p:spTree>
    <p:extLst>
      <p:ext uri="{BB962C8B-B14F-4D97-AF65-F5344CB8AC3E}">
        <p14:creationId xmlns:p14="http://schemas.microsoft.com/office/powerpoint/2010/main" val="944548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3832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63659"/>
                </a:solidFill>
                <a:latin typeface="Aptos Display"/>
              </a:rPr>
              <a:t>EDA: monthly sales and media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058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A646E"/>
                </a:solidFill>
                <a:latin typeface="Aptos"/>
              </a:rPr>
              <a:t>Sales, Digital, Radio and TV are shown together with the highlighted Q2/Q3 2020 COVID periods.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61722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46E"/>
                </a:solidFill>
                <a:latin typeface="Aptos"/>
              </a:rPr>
              <a:t>05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560632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3082564"/>
            <a:ext cx="4718304" cy="2449555"/>
          </a:xfrm>
          <a:prstGeom prst="roundRect">
            <a:avLst/>
          </a:prstGeom>
          <a:solidFill>
            <a:srgbClr val="EEF2F5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628650" lvl="1" indent="-171450">
              <a:buFont typeface="Arial" panose="020B0604020202020204" pitchFamily="34" charset="0"/>
              <a:buChar char="•"/>
              <a:defRPr sz="1150">
                <a:solidFill>
                  <a:srgbClr val="282828"/>
                </a:solidFill>
              </a:defRPr>
            </a:pPr>
            <a:r>
              <a:rPr sz="1400" dirty="0"/>
              <a:t>Sales fluctuate a lot month to month.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150">
                <a:solidFill>
                  <a:srgbClr val="282828"/>
                </a:solidFill>
              </a:defRPr>
            </a:pPr>
            <a:r>
              <a:rPr sz="1400" dirty="0"/>
              <a:t>Digital varies much more than Radio.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150">
                <a:solidFill>
                  <a:srgbClr val="282828"/>
                </a:solidFill>
              </a:defRPr>
            </a:pPr>
            <a:r>
              <a:rPr sz="1400" dirty="0"/>
              <a:t>TV falls sharply in Q3 2020 and again late 2022.</a:t>
            </a:r>
          </a:p>
        </p:txBody>
      </p:sp>
      <p:pic>
        <p:nvPicPr>
          <p:cNvPr id="4098" name="Picture 2" descr="What is Exploratory Data Analysis? [Steps &amp; Examples]">
            <a:extLst>
              <a:ext uri="{FF2B5EF4-FFF2-40B4-BE49-F238E27FC236}">
                <a16:creationId xmlns:a16="http://schemas.microsoft.com/office/drawing/2014/main" id="{2527E218-8347-CC84-D56D-A69A51484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57" y="1211580"/>
            <a:ext cx="257175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3832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63659"/>
                </a:solidFill>
                <a:latin typeface="Aptos Display"/>
              </a:rPr>
              <a:t>EDA: average monthly sales by COVID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058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A646E"/>
                </a:solidFill>
                <a:latin typeface="Aptos"/>
              </a:rPr>
              <a:t>A descriptive comparison across lockdown, relaxation and the other months in the sample.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61722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46E"/>
                </a:solidFill>
                <a:latin typeface="Aptos"/>
              </a:rPr>
              <a:t>06</a:t>
            </a:r>
          </a:p>
        </p:txBody>
      </p:sp>
      <p:pic>
        <p:nvPicPr>
          <p:cNvPr id="5" name="Picture 4" descr="avg_sales_covi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6355080" cy="312587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86599" y="1719072"/>
            <a:ext cx="4338687" cy="3200400"/>
          </a:xfrm>
          <a:prstGeom prst="roundRect">
            <a:avLst/>
          </a:prstGeom>
          <a:solidFill>
            <a:srgbClr val="EEF2F5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628650" lvl="1" indent="-171450">
              <a:buFont typeface="Arial" panose="020B0604020202020204" pitchFamily="34" charset="0"/>
              <a:buChar char="•"/>
              <a:defRPr sz="1100">
                <a:solidFill>
                  <a:srgbClr val="282828"/>
                </a:solidFill>
              </a:defRPr>
            </a:pPr>
            <a:r>
              <a:rPr lang="en-US" dirty="0"/>
              <a:t>Average monthly sales were lowest during Q3 2020 ($178.8M), compared with Q2 lockdown ($231.6M) and other months ($250.62M).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38328"/>
            <a:ext cx="9966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63659"/>
                </a:solidFill>
                <a:latin typeface="Aptos Display"/>
              </a:rPr>
              <a:t>EDA: average advertising </a:t>
            </a:r>
            <a:r>
              <a:rPr lang="en-IN" sz="2400" b="1" dirty="0">
                <a:solidFill>
                  <a:srgbClr val="163659"/>
                </a:solidFill>
                <a:latin typeface="Aptos Display"/>
              </a:rPr>
              <a:t>S</a:t>
            </a:r>
            <a:r>
              <a:rPr sz="2400" b="1" dirty="0">
                <a:solidFill>
                  <a:srgbClr val="163659"/>
                </a:solidFill>
                <a:latin typeface="Aptos Display"/>
              </a:rPr>
              <a:t>pend by COVID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058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A646E"/>
                </a:solidFill>
                <a:latin typeface="Aptos"/>
              </a:rPr>
              <a:t>Digital, Radio and TV budgets are compared across the same three period groups.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61722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46E"/>
                </a:solidFill>
                <a:latin typeface="Aptos"/>
              </a:rPr>
              <a:t>07</a:t>
            </a:r>
          </a:p>
        </p:txBody>
      </p:sp>
      <p:pic>
        <p:nvPicPr>
          <p:cNvPr id="5" name="Picture 4" descr="avg_adspend_covi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72768"/>
            <a:ext cx="10515600" cy="29000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13C12A-FE66-7CD7-D34E-B3B34454FCF0}"/>
              </a:ext>
            </a:extLst>
          </p:cNvPr>
          <p:cNvSpPr txBox="1"/>
          <p:nvPr/>
        </p:nvSpPr>
        <p:spPr>
          <a:xfrm>
            <a:off x="1008670" y="5113496"/>
            <a:ext cx="106720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three channels recorded their lowest average spending during Q3 2020 (relaxation).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Digital spending was highest during other months ($78.98M), compared with $31.05M during relaxation.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Radio and TV spending were highest during lockdown, not during relaxation.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monthly sales were also lowest during relaxation ($178.8M),  suggesting that advertising and sales declined during the same period. However, this does not establish causation.</a:t>
            </a:r>
            <a:r>
              <a:rPr lang="en-IN" dirty="0"/>
              <a:t>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38328"/>
            <a:ext cx="9966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63659"/>
                </a:solidFill>
                <a:latin typeface="Aptos Display"/>
              </a:rPr>
              <a:t>EDA: pairwise correlations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058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A646E"/>
                </a:solidFill>
                <a:latin typeface="Aptos"/>
              </a:rPr>
              <a:t>Heatmap of raw relationships. Regression is still needed to control for overlap, trend and seasonality.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61722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A646E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91640"/>
            <a:ext cx="3749039" cy="3520440"/>
          </a:xfrm>
          <a:prstGeom prst="roundRect">
            <a:avLst/>
          </a:prstGeom>
          <a:solidFill>
            <a:srgbClr val="EEF2F5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63659"/>
                </a:solidFill>
                <a:latin typeface="Aptos"/>
              </a:rPr>
              <a:t>Key unadjusted findings</a:t>
            </a:r>
          </a:p>
          <a:p>
            <a:pPr lvl="1">
              <a:defRPr sz="1100">
                <a:solidFill>
                  <a:srgbClr val="282828"/>
                </a:solidFill>
              </a:defRPr>
            </a:pPr>
            <a:r>
              <a:t>Sales–Digital: 0.77 (strongest raw positive relationship)</a:t>
            </a:r>
          </a:p>
          <a:p>
            <a:pPr lvl="1">
              <a:defRPr sz="1100">
                <a:solidFill>
                  <a:srgbClr val="282828"/>
                </a:solidFill>
              </a:defRPr>
            </a:pPr>
            <a:r>
              <a:t>Sales–Radio: 0.44 (moderate positive relationship)</a:t>
            </a:r>
          </a:p>
          <a:p>
            <a:pPr lvl="1">
              <a:defRPr sz="1100">
                <a:solidFill>
                  <a:srgbClr val="282828"/>
                </a:solidFill>
              </a:defRPr>
            </a:pPr>
            <a:r>
              <a:t>Sales–TV: 0.14 (weak raw relationship)</a:t>
            </a:r>
          </a:p>
          <a:p>
            <a:pPr lvl="1">
              <a:defRPr sz="1100">
                <a:solidFill>
                  <a:srgbClr val="282828"/>
                </a:solidFill>
              </a:defRPr>
            </a:pPr>
            <a:r>
              <a:t>Sales–GDP: -0.11 (weak negative relationship)</a:t>
            </a:r>
          </a:p>
          <a:p>
            <a:pPr lvl="1">
              <a:defRPr sz="1100">
                <a:solidFill>
                  <a:srgbClr val="282828"/>
                </a:solidFill>
              </a:defRPr>
            </a:pPr>
            <a:r>
              <a:t>Radio–TV: 0.66 suggests those two media can move together.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257800" cy="4088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24A"/>
                </a:solidFill>
              </a:defRPr>
            </a:pPr>
            <a:r>
              <a:t>VIF check: predictor overlap is manageable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0120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77"/>
                </a:solidFill>
              </a:defRPr>
            </a:pPr>
            <a:r>
              <a:t>VIF checks multicollinearity among predictors, not whether causality is proven.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5508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078"/>
                </a:solidFill>
              </a:defRPr>
            </a:pPr>
            <a:r>
              <a:rPr sz="1100">
                <a:solidFill>
                  <a:srgbClr val="5A646E"/>
                </a:solidFill>
                <a:latin typeface="Aptos"/>
              </a:rPr>
              <a:t>22</a:t>
            </a:r>
          </a:p>
        </p:txBody>
      </p:sp>
      <p:pic>
        <p:nvPicPr>
          <p:cNvPr id="6" name="Picture 5" descr="v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17740"/>
            <a:ext cx="6583680" cy="3822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324A"/>
                </a:solidFill>
              </a:defRPr>
            </a:pPr>
            <a: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28800"/>
            <a:ext cx="365760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F2638"/>
                </a:solidFill>
              </a:defRPr>
            </a:pPr>
            <a:r>
              <a:rPr dirty="0"/>
              <a:t>• All VIF values are below 2.5.</a:t>
            </a:r>
          </a:p>
          <a:p>
            <a:pPr>
              <a:spcAft>
                <a:spcPts val="700"/>
              </a:spcAft>
              <a:defRPr sz="1400">
                <a:solidFill>
                  <a:srgbClr val="0F2638"/>
                </a:solidFill>
              </a:defRPr>
            </a:pPr>
            <a:r>
              <a:rPr dirty="0"/>
              <a:t>• This suggests no severe multicollinearity in Model 1.</a:t>
            </a:r>
          </a:p>
          <a:p>
            <a:pPr>
              <a:spcAft>
                <a:spcPts val="700"/>
              </a:spcAft>
              <a:defRPr sz="1400">
                <a:solidFill>
                  <a:srgbClr val="0F2638"/>
                </a:solidFill>
              </a:defRPr>
            </a:pPr>
            <a:r>
              <a:rPr dirty="0"/>
              <a:t>• Low VIF does not remove omitted-variable bias.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2800" b="1">
                <a:solidFill>
                  <a:srgbClr val="163659"/>
                </a:solidFill>
                <a:latin typeface="Aptos Display"/>
              </a:rPr>
              <a:t>Hypothesis testing: what did the evidence support?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1498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250" b="0">
                <a:solidFill>
                  <a:srgbClr val="5A646E"/>
                </a:solidFill>
                <a:latin typeface="Aptos"/>
              </a:rPr>
              <a:t>α = 0.05. Holm adjustment is used for individual media-channel tests; GDP and COVID are separate extensions.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71780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>
                    <a:solidFill>
                      <a:srgbClr val="16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Test / statistic</a:t>
                      </a:r>
                    </a:p>
                  </a:txBody>
                  <a:tcPr>
                    <a:solidFill>
                      <a:srgbClr val="16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 p-value</a:t>
                      </a:r>
                    </a:p>
                  </a:txBody>
                  <a:tcPr>
                    <a:solidFill>
                      <a:srgbClr val="16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>
                    <a:solidFill>
                      <a:srgbClr val="16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Business interpretation</a:t>
                      </a:r>
                    </a:p>
                  </a:txBody>
                  <a:tcPr>
                    <a:solidFill>
                      <a:srgbClr val="163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63659"/>
                          </a:solidFill>
                          <a:latin typeface="Aptos"/>
                        </a:rPr>
                        <a:t>All media jointly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Wald/F = 73.28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5825A"/>
                          </a:solidFill>
                          <a:latin typeface="Aptos"/>
                        </a:rPr>
                        <a:t>Reject H₀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  <a:latin typeface="Aptos"/>
                        </a:rPr>
                        <a:t>At least one media channel is associated with sales.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63659"/>
                          </a:solidFill>
                          <a:latin typeface="Aptos"/>
                        </a:rPr>
                        <a:t>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t = 8.951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5825A"/>
                          </a:solidFill>
                          <a:latin typeface="Aptos"/>
                        </a:rPr>
                        <a:t>Reject H₀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  <a:latin typeface="Aptos"/>
                        </a:rPr>
                        <a:t>Positive adjusted association; strongest supported channel.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63659"/>
                          </a:solidFill>
                          <a:latin typeface="Aptos"/>
                        </a:rPr>
                        <a:t>Radio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t = 5.562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5825A"/>
                          </a:solidFill>
                          <a:latin typeface="Aptos"/>
                        </a:rPr>
                        <a:t>Reject H₀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  <a:latin typeface="Aptos"/>
                        </a:rPr>
                        <a:t>Positive adjusted association; supporting evidence.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63659"/>
                          </a:solidFill>
                          <a:latin typeface="Aptos"/>
                        </a:rPr>
                        <a:t>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t = -1.261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0.217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5A646E"/>
                          </a:solidFill>
                          <a:latin typeface="Aptos"/>
                        </a:rPr>
                        <a:t>Do not 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  <a:latin typeface="Aptos"/>
                        </a:rPr>
                        <a:t>Insufficient adjusted evidence for TV.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63659"/>
                          </a:solidFill>
                          <a:latin typeface="Aptos"/>
                        </a:rPr>
                        <a:t>GDP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t = 1.045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0.305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5A646E"/>
                          </a:solidFill>
                          <a:latin typeface="Aptos"/>
                        </a:rPr>
                        <a:t>Do not 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  <a:latin typeface="Aptos"/>
                        </a:rPr>
                        <a:t>No statistically detectable GDP association.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63659"/>
                          </a:solidFill>
                          <a:latin typeface="Aptos"/>
                        </a:rPr>
                        <a:t>COVID lockdown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t = -0.901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0.375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5A646E"/>
                          </a:solidFill>
                          <a:latin typeface="Aptos"/>
                        </a:rPr>
                        <a:t>Do not 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  <a:latin typeface="Aptos"/>
                        </a:rPr>
                        <a:t>No detectable adjusted lockdown-period difference.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63659"/>
                          </a:solidFill>
                          <a:latin typeface="Aptos"/>
                        </a:rPr>
                        <a:t>COVID relaxation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t = -0.440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32323"/>
                          </a:solidFill>
                          <a:latin typeface="Aptos"/>
                        </a:rPr>
                        <a:t>0.664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5A646E"/>
                          </a:solidFill>
                          <a:latin typeface="Aptos"/>
                        </a:rPr>
                        <a:t>Do not 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323"/>
                          </a:solidFill>
                          <a:latin typeface="Aptos"/>
                        </a:rPr>
                        <a:t>No detectable adjusted relaxation-period difference.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55279" y="3167406"/>
            <a:ext cx="3246120" cy="2867634"/>
          </a:xfrm>
          <a:prstGeom prst="roundRect">
            <a:avLst/>
          </a:prstGeom>
          <a:solidFill>
            <a:srgbClr val="EEF2F5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82880" rtlCol="0" anchor="ctr"/>
          <a:lstStyle/>
          <a:p>
            <a:pPr algn="ctr"/>
            <a:r>
              <a:rPr sz="1600" b="1" dirty="0">
                <a:solidFill>
                  <a:srgbClr val="163659"/>
                </a:solidFill>
                <a:latin typeface="Aptos"/>
              </a:rPr>
              <a:t>Key insights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dirty="0"/>
              <a:t>• Digital and Radio pass the statistical tests.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dirty="0"/>
              <a:t>• The joint media test is significant, but this does not mean all channels are effective.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dirty="0"/>
              <a:t>• TV is inconclusive after controls; do not scale TV based only on this model.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rPr dirty="0"/>
              <a:t>• GDP and COVID terms are not statistically detectable in the adjusted extensions.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1904" y="6172200"/>
            <a:ext cx="411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>
                <a:solidFill>
                  <a:srgbClr val="5A646E"/>
                </a:solidFill>
                <a:latin typeface="Aptos"/>
              </a:rPr>
              <a:t>10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733233-229F-C074-E272-28EFA6D0D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702" y="932381"/>
            <a:ext cx="2111274" cy="21112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253342-13DE-42A2-A76E-677DBA584B9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Q1. Are all media channels effective?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9F4CC-86D5-4A5B-A83B-4BC60B29B7BF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No. The evidence supports positive associations for Digital and Radio, but not all three channels.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C4CC4A-9C74-40C1-94B3-7FDD41FE91F3}"/>
              </a:ext>
            </a:extLst>
          </p:cNvPr>
          <p:cNvSpPr>
            <a:spLocks noGrp="1"/>
          </p:cNvSpPr>
          <p:nvPr/>
        </p:nvSpPr>
        <p:spPr>
          <a:xfrm>
            <a:off x="11191875" y="646747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609600" y="2047875"/>
          <a:ext cx="10972800" cy="24765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Channel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Holm-adjusted p-value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Conclusion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Digital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&lt; 0.001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Positive supporting evidence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Radio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Positive supporting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TV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0.217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Insufficient evidence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DA9131A-A1D6-48EC-BFB9-57C2EBE3DFBD}"/>
              </a:ext>
            </a:extLst>
          </p:cNvPr>
          <p:cNvSpPr>
            <a:spLocks noGrp="1"/>
          </p:cNvSpPr>
          <p:nvPr/>
        </p:nvSpPr>
        <p:spPr>
          <a:xfrm>
            <a:off x="628650" y="4857750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Joint test: F = 73.28, p &lt; 0.001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40EEC4-FBAD-4706-A061-DA5C673F68C4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The joint test supports at least one channel. It does not establish that all three are effective.</a:t>
            </a:r>
          </a:p>
        </p:txBody>
      </p:sp>
    </p:spTree>
    <p:extLst>
      <p:ext uri="{BB962C8B-B14F-4D97-AF65-F5344CB8AC3E}">
        <p14:creationId xmlns:p14="http://schemas.microsoft.com/office/powerpoint/2010/main" val="835188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D89D6E-0450-4F87-A367-F5E59D5C4B5A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Q2. Which is the most important channel?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EF08BD-90DB-4F20-96C6-34F15D0AA5B0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Digital ranks first by both adjusted measures, followed by Radio and TV.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04BD36-2CAB-4340-AA43-6C39EE976821}"/>
              </a:ext>
            </a:extLst>
          </p:cNvPr>
          <p:cNvSpPr>
            <a:spLocks noGrp="1"/>
          </p:cNvSpPr>
          <p:nvPr/>
        </p:nvSpPr>
        <p:spPr>
          <a:xfrm>
            <a:off x="11191875" y="646747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DC8CEF-A306-4038-BED6-98DAF57F0F7C}"/>
              </a:ext>
            </a:extLst>
          </p:cNvPr>
          <p:cNvSpPr>
            <a:spLocks noGrp="1"/>
          </p:cNvSpPr>
          <p:nvPr/>
        </p:nvSpPr>
        <p:spPr>
          <a:xfrm>
            <a:off x="638175" y="19240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Standardized coefficient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744B42-A8BD-46D1-9B31-B89057981C4B}"/>
              </a:ext>
            </a:extLst>
          </p:cNvPr>
          <p:cNvSpPr>
            <a:spLocks noGrp="1"/>
          </p:cNvSpPr>
          <p:nvPr/>
        </p:nvSpPr>
        <p:spPr>
          <a:xfrm>
            <a:off x="6505575" y="19240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R²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609600" y="2371725"/>
          <a:ext cx="5219700" cy="286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="6400800" y="2371725"/>
          <a:ext cx="5219700" cy="286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C7AC8F2-7766-4580-82EB-53E3DD34A6B5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Digital: standardized coefficient 0.813 and partial R² 0.813.</a:t>
            </a:r>
          </a:p>
        </p:txBody>
      </p:sp>
    </p:spTree>
    <p:extLst>
      <p:ext uri="{BB962C8B-B14F-4D97-AF65-F5344CB8AC3E}">
        <p14:creationId xmlns:p14="http://schemas.microsoft.com/office/powerpoint/2010/main" val="151019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B2AD1E-FE58-4220-A14B-89F30A6329B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Q3. Do macroeconomic factors influence sales?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0B7725-3B09-4568-9EB0-E5624C5E4317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The supplied GDP measure has no statistically detectable adjusted association with sales.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B91B71-996D-4054-8254-A0B0C5A282BA}"/>
              </a:ext>
            </a:extLst>
          </p:cNvPr>
          <p:cNvSpPr>
            <a:spLocks noGrp="1"/>
          </p:cNvSpPr>
          <p:nvPr/>
        </p:nvSpPr>
        <p:spPr>
          <a:xfrm>
            <a:off x="11191875" y="646747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609600" y="2047875"/>
          <a:ext cx="10972800" cy="2667000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GDP result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Estimate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Sales change per 1 percentage point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+$0.602M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95% confidence interval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−$0.578M to +$1.782M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p-value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0.305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3E4F4AB-54FF-4BF0-B3A9-525E41AEFB18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The interval includes zero. This result does not rule out other economic influences.</a:t>
            </a:r>
          </a:p>
        </p:txBody>
      </p:sp>
    </p:spTree>
    <p:extLst>
      <p:ext uri="{BB962C8B-B14F-4D97-AF65-F5344CB8AC3E}">
        <p14:creationId xmlns:p14="http://schemas.microsoft.com/office/powerpoint/2010/main" val="239151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21B56E7-BFC5-4B9A-BD91-D133D51158F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Q4. Did COVID affect sales, and why?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A5D29-C816-4B30-A8FB-D653C3B2388F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Sales were lower during the defined COVID phases than during the other months.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FE4717-60E6-43AD-84FC-264B1044270D}"/>
              </a:ext>
            </a:extLst>
          </p:cNvPr>
          <p:cNvSpPr>
            <a:spLocks noGrp="1"/>
          </p:cNvSpPr>
          <p:nvPr/>
        </p:nvSpPr>
        <p:spPr>
          <a:xfrm>
            <a:off x="11191875" y="646747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="619125" y="2095500"/>
          <a:ext cx="10953750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205B055-2B9E-4C36-BAD0-94FDB2127CE6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These raw averages also reflect differences in advertising and timing.</a:t>
            </a:r>
          </a:p>
        </p:txBody>
      </p:sp>
    </p:spTree>
    <p:extLst>
      <p:ext uri="{BB962C8B-B14F-4D97-AF65-F5344CB8AC3E}">
        <p14:creationId xmlns:p14="http://schemas.microsoft.com/office/powerpoint/2010/main" val="385103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19C816-6470-4914-B006-F6DF166EEC8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Q4. No clear COVID difference after adjustment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0B8AD-BC16-4F61-A677-8C984B44F21E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Both period estimates remain statistically inconclusive after media, trend and seasonality controls.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36DA90-2436-4BEC-A18B-70E47BD2828C}"/>
              </a:ext>
            </a:extLst>
          </p:cNvPr>
          <p:cNvSpPr>
            <a:spLocks noGrp="1"/>
          </p:cNvSpPr>
          <p:nvPr/>
        </p:nvSpPr>
        <p:spPr>
          <a:xfrm>
            <a:off x="11191875" y="646747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609600" y="2038350"/>
          <a:ext cx="10972800" cy="20955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Phase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Adjusted change ($M)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95% interval ($M)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p-value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Q2 lockdown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−38.33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−125.61 to +48.94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0.375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Q3 relaxation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−9.47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−53.66 to +34.71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0.663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32CCED6-2D6A-40E8-8EBB-FD604F06AACE}"/>
              </a:ext>
            </a:extLst>
          </p:cNvPr>
          <p:cNvSpPr>
            <a:spLocks noGrp="1"/>
          </p:cNvSpPr>
          <p:nvPr/>
        </p:nvSpPr>
        <p:spPr>
          <a:xfrm>
            <a:off x="619125" y="4600575"/>
            <a:ext cx="109537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Why? The data do not identify a cause.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449C2-E467-4282-B1F9-8C984BE0237D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Only three months per phase and no pre-pandemic baseline limit the comparison.</a:t>
            </a:r>
          </a:p>
        </p:txBody>
      </p:sp>
    </p:spTree>
    <p:extLst>
      <p:ext uri="{BB962C8B-B14F-4D97-AF65-F5344CB8AC3E}">
        <p14:creationId xmlns:p14="http://schemas.microsoft.com/office/powerpoint/2010/main" val="1429147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8E2B226-D37D-4AB3-A9EE-39B0FCA40116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How much confidence should we place in the results?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25DBAD-FDF8-45DB-A579-01CDFD60F425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109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The findings support prioritizing tests, while several limitations constrain interpretation.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A22E3-F4B6-4AA7-9820-BA493DC5358D}"/>
              </a:ext>
            </a:extLst>
          </p:cNvPr>
          <p:cNvSpPr>
            <a:spLocks noGrp="1"/>
          </p:cNvSpPr>
          <p:nvPr/>
        </p:nvSpPr>
        <p:spPr>
          <a:xfrm>
            <a:off x="11191875" y="646747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5263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7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3828D-3451-4822-BC77-9FDF224A31D0}"/>
              </a:ext>
            </a:extLst>
          </p:cNvPr>
          <p:cNvSpPr>
            <a:spLocks noGrp="1"/>
          </p:cNvSpPr>
          <p:nvPr/>
        </p:nvSpPr>
        <p:spPr>
          <a:xfrm>
            <a:off x="619125" y="2066925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Small sample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777D0D-F657-4868-992F-95C6D0042E98}"/>
              </a:ext>
            </a:extLst>
          </p:cNvPr>
          <p:cNvSpPr>
            <a:spLocks noGrp="1"/>
          </p:cNvSpPr>
          <p:nvPr/>
        </p:nvSpPr>
        <p:spPr>
          <a:xfrm>
            <a:off x="3905250" y="2066925"/>
            <a:ext cx="75819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36 months. Newey–West results are approximate.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53D0B2-14A2-44CF-9B00-ADAA2E061B15}"/>
              </a:ext>
            </a:extLst>
          </p:cNvPr>
          <p:cNvSpPr>
            <a:spLocks noGrp="1"/>
          </p:cNvSpPr>
          <p:nvPr/>
        </p:nvSpPr>
        <p:spPr>
          <a:xfrm>
            <a:off x="619125" y="2867025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Predictor overlap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DF7CA-A6A7-42E8-8944-37C0643C882C}"/>
              </a:ext>
            </a:extLst>
          </p:cNvPr>
          <p:cNvSpPr>
            <a:spLocks noGrp="1"/>
          </p:cNvSpPr>
          <p:nvPr/>
        </p:nvSpPr>
        <p:spPr>
          <a:xfrm>
            <a:off x="3905250" y="2867025"/>
            <a:ext cx="75819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VIF 1.21–2.39 suggests no serious multicollinearity.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FADF74-9C04-4588-8DEC-9C799CE57631}"/>
              </a:ext>
            </a:extLst>
          </p:cNvPr>
          <p:cNvSpPr>
            <a:spLocks noGrp="1"/>
          </p:cNvSpPr>
          <p:nvPr/>
        </p:nvSpPr>
        <p:spPr>
          <a:xfrm>
            <a:off x="619125" y="3667125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GDP coverage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E91729-64C9-4CDE-88C0-21A5C7D03694}"/>
              </a:ext>
            </a:extLst>
          </p:cNvPr>
          <p:cNvSpPr>
            <a:spLocks noGrp="1"/>
          </p:cNvSpPr>
          <p:nvPr/>
        </p:nvSpPr>
        <p:spPr>
          <a:xfrm>
            <a:off x="3905250" y="3667125"/>
            <a:ext cx="75819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12 quarters. National GDP may miss local conditions.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AF1BBD-C646-4423-9C32-A07B2E358B73}"/>
              </a:ext>
            </a:extLst>
          </p:cNvPr>
          <p:cNvSpPr>
            <a:spLocks noGrp="1"/>
          </p:cNvSpPr>
          <p:nvPr/>
        </p:nvSpPr>
        <p:spPr>
          <a:xfrm>
            <a:off x="619125" y="4467225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Marketing response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8D1D01-7C9D-4542-92DD-49E80B2A4480}"/>
              </a:ext>
            </a:extLst>
          </p:cNvPr>
          <p:cNvSpPr>
            <a:spLocks noGrp="1"/>
          </p:cNvSpPr>
          <p:nvPr/>
        </p:nvSpPr>
        <p:spPr>
          <a:xfrm>
            <a:off x="3905250" y="4467225"/>
            <a:ext cx="75819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model omits carryover and diminishing returns.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9EF9CC-968C-4507-8186-5A139FE953C0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147D9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7D92"/>
                </a:solidFill>
                <a:latin typeface="Aptos"/>
                <a:ea typeface="Aptos"/>
                <a:cs typeface="Aptos"/>
              </a:rPr>
              <a:t>These observational results estimate adjusted associations. They do not establish causal ROI.</a:t>
            </a:r>
          </a:p>
        </p:txBody>
      </p:sp>
    </p:spTree>
    <p:extLst>
      <p:ext uri="{BB962C8B-B14F-4D97-AF65-F5344CB8AC3E}">
        <p14:creationId xmlns:p14="http://schemas.microsoft.com/office/powerpoint/2010/main" val="1516271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wide_cinematic_modern_retail_store_interior_sc_batch_1.png"/>
          <p:cNvPicPr>
            <a:picLocks noChangeAspect="1"/>
          </p:cNvPicPr>
          <p:nvPr/>
        </p:nvPicPr>
        <p:blipFill>
          <a:blip r:embed="rId2"/>
          <a:srcRect l="26625" r="26625"/>
          <a:stretch>
            <a:fillRect/>
          </a:stretch>
        </p:blipFill>
        <p:spPr>
          <a:xfrm>
            <a:off x="6492240" y="0"/>
            <a:ext cx="569671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11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24A"/>
                </a:solidFill>
              </a:defRPr>
            </a:pPr>
            <a:r>
              <a:t>Retail next step: test before scaling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5673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C77"/>
                </a:solidFill>
              </a:defRPr>
            </a:pPr>
            <a:r>
              <a:rPr dirty="0"/>
              <a:t>Use the model as a prioritization tool, then measure incremental sales and profit.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35508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078"/>
                </a:solidFill>
              </a:defRPr>
            </a:pPr>
            <a:r>
              <a:rPr sz="1100">
                <a:solidFill>
                  <a:srgbClr val="5A646E"/>
                </a:solidFill>
                <a:latin typeface="Aptos"/>
              </a:rPr>
              <a:t>24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6362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2638"/>
                </a:solidFill>
              </a:defRPr>
            </a:pPr>
            <a:r>
              <a:t>Choose matched stores or regions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514600"/>
            <a:ext cx="411480" cy="411480"/>
          </a:xfrm>
          <a:prstGeom prst="ellipse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7802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2638"/>
                </a:solidFill>
              </a:defRPr>
            </a:pPr>
            <a:r>
              <a:t>Increase Digital in treatment group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29000"/>
            <a:ext cx="411480" cy="411480"/>
          </a:xfrm>
          <a:prstGeom prst="ellipse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9242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2638"/>
                </a:solidFill>
              </a:defRPr>
            </a:pPr>
            <a:r>
              <a:t>Hold Radio / TV policy stable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43400"/>
            <a:ext cx="411480" cy="411480"/>
          </a:xfrm>
          <a:prstGeom prst="ellipse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0682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2638"/>
                </a:solidFill>
              </a:defRPr>
            </a:pPr>
            <a:r>
              <a:t>Measure incremental sales and profit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17F71B-B88D-AE69-9C29-2E2EE9A3C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0"/>
            <a:ext cx="4800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241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1353</Words>
  <Application>Microsoft Office PowerPoint</Application>
  <DocSecurity>0</DocSecurity>
  <PresentationFormat>Widescreen</PresentationFormat>
  <Paragraphs>226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rahul bagal</cp:lastModifiedBy>
  <cp:revision>25</cp:revision>
  <dcterms:created xsi:type="dcterms:W3CDTF">2026-09-20T15:04:09Z</dcterms:created>
  <dcterms:modified xsi:type="dcterms:W3CDTF">2026-09-20T17:36:14Z</dcterms:modified>
</cp:coreProperties>
</file>